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E8D30E-ECAD-4065-800C-586DE638F3CB}" v="10" dt="2026-07-18T11:59:26.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JALI BADAVATH" userId="bb289d3eac6a56f7" providerId="LiveId" clId="{6FD3B06D-DD22-454D-A84C-64AE34FFE670}"/>
    <pc:docChg chg="modSld">
      <pc:chgData name="ANJALI BADAVATH" userId="bb289d3eac6a56f7" providerId="LiveId" clId="{6FD3B06D-DD22-454D-A84C-64AE34FFE670}" dt="2026-07-18T12:07:06.700" v="15" actId="732"/>
      <pc:docMkLst>
        <pc:docMk/>
      </pc:docMkLst>
      <pc:sldChg chg="addSp delSp modSp mod">
        <pc:chgData name="ANJALI BADAVATH" userId="bb289d3eac6a56f7" providerId="LiveId" clId="{6FD3B06D-DD22-454D-A84C-64AE34FFE670}" dt="2026-07-18T12:07:06.700" v="15" actId="732"/>
        <pc:sldMkLst>
          <pc:docMk/>
          <pc:sldMk cId="2938523445" sldId="265"/>
        </pc:sldMkLst>
        <pc:picChg chg="add del mod">
          <ac:chgData name="ANJALI BADAVATH" userId="bb289d3eac6a56f7" providerId="LiveId" clId="{6FD3B06D-DD22-454D-A84C-64AE34FFE670}" dt="2026-07-18T11:59:24.219" v="8" actId="478"/>
          <ac:picMkLst>
            <pc:docMk/>
            <pc:sldMk cId="2938523445" sldId="265"/>
            <ac:picMk id="2" creationId="{A4BF7768-3B17-A586-7E9F-238E468B7DDE}"/>
          </ac:picMkLst>
        </pc:picChg>
        <pc:picChg chg="add mod modCrop">
          <ac:chgData name="ANJALI BADAVATH" userId="bb289d3eac6a56f7" providerId="LiveId" clId="{6FD3B06D-DD22-454D-A84C-64AE34FFE670}" dt="2026-07-18T12:07:06.700" v="15" actId="732"/>
          <ac:picMkLst>
            <pc:docMk/>
            <pc:sldMk cId="2938523445" sldId="265"/>
            <ac:picMk id="4" creationId="{3D55A0D2-92FE-9ACC-4AAF-99D75061D083}"/>
          </ac:picMkLst>
        </pc:picChg>
        <pc:picChg chg="add del mod">
          <ac:chgData name="ANJALI BADAVATH" userId="bb289d3eac6a56f7" providerId="LiveId" clId="{6FD3B06D-DD22-454D-A84C-64AE34FFE670}" dt="2026-07-18T11:59:26.617" v="9" actId="478"/>
          <ac:picMkLst>
            <pc:docMk/>
            <pc:sldMk cId="2938523445" sldId="265"/>
            <ac:picMk id="1026" creationId="{50C07C08-9FE5-42A3-5664-0C5F94F4324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7517C6-8A85-42E7-93D8-32110DBBC321}" type="datetimeFigureOut">
              <a:rPr lang="en-IN" smtClean="0"/>
              <a:t>18-07-2026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FE8DAC8-AC40-4F3F-9764-28EBF630112C}"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27060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7517C6-8A85-42E7-93D8-32110DBBC321}" type="datetimeFigureOut">
              <a:rPr lang="en-IN" smtClean="0"/>
              <a:t>18-07-2026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E8DAC8-AC40-4F3F-9764-28EBF630112C}"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3928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7517C6-8A85-42E7-93D8-32110DBBC321}" type="datetimeFigureOut">
              <a:rPr lang="en-IN" smtClean="0"/>
              <a:t>18-07-2026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E8DAC8-AC40-4F3F-9764-28EBF630112C}"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7730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B7517C6-8A85-42E7-93D8-32110DBBC321}" type="datetimeFigureOut">
              <a:rPr lang="en-IN" smtClean="0"/>
              <a:t>18-07-2026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E8DAC8-AC40-4F3F-9764-28EBF630112C}"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4723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7517C6-8A85-42E7-93D8-32110DBBC321}" type="datetimeFigureOut">
              <a:rPr lang="en-IN" smtClean="0"/>
              <a:t>18-07-2026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FE8DAC8-AC40-4F3F-9764-28EBF630112C}"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091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7517C6-8A85-42E7-93D8-32110DBBC321}" type="datetimeFigureOut">
              <a:rPr lang="en-IN" smtClean="0"/>
              <a:t>18-07-2026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E8DAC8-AC40-4F3F-9764-28EBF630112C}"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80868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7517C6-8A85-42E7-93D8-32110DBBC321}" type="datetimeFigureOut">
              <a:rPr lang="en-IN" smtClean="0"/>
              <a:t>18-07-2026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FE8DAC8-AC40-4F3F-9764-28EBF630112C}" type="slidenum">
              <a:rPr lang="en-IN" smtClean="0"/>
              <a:t>‹#›</a:t>
            </a:fld>
            <a:endParaRPr lang="en-IN"/>
          </a:p>
        </p:txBody>
      </p:sp>
    </p:spTree>
    <p:extLst>
      <p:ext uri="{BB962C8B-B14F-4D97-AF65-F5344CB8AC3E}">
        <p14:creationId xmlns:p14="http://schemas.microsoft.com/office/powerpoint/2010/main" val="3919491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7517C6-8A85-42E7-93D8-32110DBBC321}" type="datetimeFigureOut">
              <a:rPr lang="en-IN" smtClean="0"/>
              <a:t>18-07-2026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E8DAC8-AC40-4F3F-9764-28EBF630112C}"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49780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6B7517C6-8A85-42E7-93D8-32110DBBC321}" type="datetimeFigureOut">
              <a:rPr lang="en-IN" smtClean="0"/>
              <a:t>18-07-2026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5FE8DAC8-AC40-4F3F-9764-28EBF630112C}"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64015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7517C6-8A85-42E7-93D8-32110DBBC321}" type="datetimeFigureOut">
              <a:rPr lang="en-IN" smtClean="0"/>
              <a:t>18-07-2026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E8DAC8-AC40-4F3F-9764-28EBF630112C}"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47782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7517C6-8A85-42E7-93D8-32110DBBC321}" type="datetimeFigureOut">
              <a:rPr lang="en-IN" smtClean="0"/>
              <a:t>18-07-2026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E8DAC8-AC40-4F3F-9764-28EBF630112C}"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15954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B7517C6-8A85-42E7-93D8-32110DBBC321}" type="datetimeFigureOut">
              <a:rPr lang="en-IN" smtClean="0"/>
              <a:t>18-07-2026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FE8DAC8-AC40-4F3F-9764-28EBF630112C}"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868952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E12F0-B051-72AC-7C34-ED4C7CE05D68}"/>
              </a:ext>
            </a:extLst>
          </p:cNvPr>
          <p:cNvSpPr>
            <a:spLocks noGrp="1"/>
          </p:cNvSpPr>
          <p:nvPr>
            <p:ph type="ctrTitle" idx="4294967295"/>
          </p:nvPr>
        </p:nvSpPr>
        <p:spPr>
          <a:xfrm>
            <a:off x="0" y="1122363"/>
            <a:ext cx="9539288" cy="1974850"/>
          </a:xfrm>
        </p:spPr>
        <p:txBody>
          <a:bodyPr>
            <a:normAutofit/>
          </a:bodyPr>
          <a:lstStyle/>
          <a:p>
            <a:pPr algn="ctr"/>
            <a:r>
              <a:rPr lang="en-US" dirty="0"/>
              <a:t>NUMBER PLATE DETECTION WITHOUT HELMET</a:t>
            </a:r>
            <a:br>
              <a:rPr lang="en-US" dirty="0"/>
            </a:br>
            <a:endParaRPr lang="en-IN" sz="4000" dirty="0"/>
          </a:p>
        </p:txBody>
      </p:sp>
      <p:sp>
        <p:nvSpPr>
          <p:cNvPr id="3" name="Subtitle 2">
            <a:extLst>
              <a:ext uri="{FF2B5EF4-FFF2-40B4-BE49-F238E27FC236}">
                <a16:creationId xmlns:a16="http://schemas.microsoft.com/office/drawing/2014/main" id="{895310A4-4883-860C-0E6F-BF29CE70AFC7}"/>
              </a:ext>
            </a:extLst>
          </p:cNvPr>
          <p:cNvSpPr>
            <a:spLocks noGrp="1"/>
          </p:cNvSpPr>
          <p:nvPr>
            <p:ph type="subTitle" idx="4294967295"/>
          </p:nvPr>
        </p:nvSpPr>
        <p:spPr>
          <a:xfrm>
            <a:off x="3497263" y="3530600"/>
            <a:ext cx="8694737" cy="1103313"/>
          </a:xfrm>
        </p:spPr>
        <p:txBody>
          <a:bodyPr>
            <a:normAutofit fontScale="25000" lnSpcReduction="20000"/>
          </a:bodyPr>
          <a:lstStyle/>
          <a:p>
            <a:pPr algn="l"/>
            <a:r>
              <a:rPr lang="en-US" sz="7200" dirty="0"/>
              <a:t>Group Members</a:t>
            </a:r>
            <a:r>
              <a:rPr lang="en-US" dirty="0"/>
              <a:t>:</a:t>
            </a:r>
          </a:p>
          <a:p>
            <a:pPr algn="l"/>
            <a:r>
              <a:rPr lang="en-US" sz="6400" dirty="0"/>
              <a:t>B.Anjali (20C91A0507)</a:t>
            </a:r>
          </a:p>
          <a:p>
            <a:pPr algn="l"/>
            <a:r>
              <a:rPr lang="en-US" sz="6400" dirty="0"/>
              <a:t>P.Kavitha (20C91A0539)</a:t>
            </a:r>
          </a:p>
          <a:p>
            <a:pPr algn="l"/>
            <a:r>
              <a:rPr lang="en-US" sz="6400" dirty="0"/>
              <a:t>M.Malvika (20C91A0534</a:t>
            </a:r>
            <a:r>
              <a:rPr lang="en-US" dirty="0"/>
              <a:t>)</a:t>
            </a:r>
            <a:endParaRPr lang="en-IN" dirty="0"/>
          </a:p>
        </p:txBody>
      </p:sp>
      <p:sp>
        <p:nvSpPr>
          <p:cNvPr id="5" name="TextBox 4">
            <a:extLst>
              <a:ext uri="{FF2B5EF4-FFF2-40B4-BE49-F238E27FC236}">
                <a16:creationId xmlns:a16="http://schemas.microsoft.com/office/drawing/2014/main" id="{09970803-4473-2FC1-E112-656A5D1C22A0}"/>
              </a:ext>
            </a:extLst>
          </p:cNvPr>
          <p:cNvSpPr txBox="1"/>
          <p:nvPr/>
        </p:nvSpPr>
        <p:spPr>
          <a:xfrm>
            <a:off x="8332235" y="4264089"/>
            <a:ext cx="3200401" cy="369332"/>
          </a:xfrm>
          <a:prstGeom prst="rect">
            <a:avLst/>
          </a:prstGeom>
          <a:noFill/>
        </p:spPr>
        <p:txBody>
          <a:bodyPr wrap="square" rtlCol="0">
            <a:spAutoFit/>
          </a:bodyPr>
          <a:lstStyle/>
          <a:p>
            <a:pPr algn="just"/>
            <a:r>
              <a:rPr lang="en-US" dirty="0"/>
              <a:t>Guided By:Mrs.Ch. Vijaya Jyothi</a:t>
            </a:r>
            <a:endParaRPr lang="en-IN" dirty="0"/>
          </a:p>
        </p:txBody>
      </p:sp>
    </p:spTree>
    <p:extLst>
      <p:ext uri="{BB962C8B-B14F-4D97-AF65-F5344CB8AC3E}">
        <p14:creationId xmlns:p14="http://schemas.microsoft.com/office/powerpoint/2010/main" val="4259138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68F25C-F2BF-326B-B8A4-1AD01378BB64}"/>
              </a:ext>
            </a:extLst>
          </p:cNvPr>
          <p:cNvSpPr txBox="1"/>
          <p:nvPr/>
        </p:nvSpPr>
        <p:spPr>
          <a:xfrm>
            <a:off x="625151" y="494520"/>
            <a:ext cx="2360645" cy="461665"/>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Contents: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E6B770B-AF82-6107-C20E-F02B67B50123}"/>
              </a:ext>
            </a:extLst>
          </p:cNvPr>
          <p:cNvSpPr txBox="1"/>
          <p:nvPr/>
        </p:nvSpPr>
        <p:spPr>
          <a:xfrm>
            <a:off x="774441" y="1544016"/>
            <a:ext cx="2565918" cy="2031325"/>
          </a:xfrm>
          <a:prstGeom prst="rect">
            <a:avLst/>
          </a:prstGeom>
          <a:noFill/>
        </p:spPr>
        <p:txBody>
          <a:bodyPr wrap="square" rtlCol="0">
            <a:spAutoFit/>
          </a:bodyPr>
          <a:lstStyle/>
          <a:p>
            <a:pPr marL="285750" indent="-285750">
              <a:buFont typeface="Wingdings" panose="05000000000000000000" pitchFamily="2" charset="2"/>
              <a:buChar char="§"/>
            </a:pPr>
            <a:r>
              <a:rPr lang="en-US" dirty="0"/>
              <a:t>Ab</a:t>
            </a:r>
            <a:r>
              <a:rPr lang="en-US" dirty="0">
                <a:latin typeface="Calibri" panose="020F0502020204030204" pitchFamily="34" charset="0"/>
                <a:ea typeface="Calibri" panose="020F0502020204030204" pitchFamily="34" charset="0"/>
                <a:cs typeface="Calibri" panose="020F0502020204030204" pitchFamily="34" charset="0"/>
              </a:rPr>
              <a:t>stract</a:t>
            </a:r>
          </a:p>
          <a:p>
            <a:pPr marL="285750" indent="-285750">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Introduction</a:t>
            </a:r>
          </a:p>
          <a:p>
            <a:pPr marL="285750" indent="-285750">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Existing System</a:t>
            </a:r>
          </a:p>
          <a:p>
            <a:pPr marL="285750" indent="-285750">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Proposed System</a:t>
            </a:r>
          </a:p>
          <a:p>
            <a:pPr marL="285750" indent="-285750">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System Specification</a:t>
            </a:r>
          </a:p>
          <a:p>
            <a:pPr marL="285750" indent="-285750">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Architecture</a:t>
            </a:r>
          </a:p>
          <a:p>
            <a:pPr marL="285750" indent="-285750">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Conclusion </a:t>
            </a:r>
            <a:endParaRPr lang="en-IN" dirty="0"/>
          </a:p>
        </p:txBody>
      </p:sp>
    </p:spTree>
    <p:extLst>
      <p:ext uri="{BB962C8B-B14F-4D97-AF65-F5344CB8AC3E}">
        <p14:creationId xmlns:p14="http://schemas.microsoft.com/office/powerpoint/2010/main" val="2988582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B85E8C-1BB3-A29B-B243-C2273B6C35C3}"/>
              </a:ext>
            </a:extLst>
          </p:cNvPr>
          <p:cNvSpPr txBox="1"/>
          <p:nvPr/>
        </p:nvSpPr>
        <p:spPr>
          <a:xfrm>
            <a:off x="1019152" y="451413"/>
            <a:ext cx="3680170" cy="461665"/>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ABSTRACT: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5C4441B7-5059-186C-3EF5-5F83E088232B}"/>
              </a:ext>
            </a:extLst>
          </p:cNvPr>
          <p:cNvSpPr txBox="1"/>
          <p:nvPr/>
        </p:nvSpPr>
        <p:spPr>
          <a:xfrm>
            <a:off x="1386068" y="1435261"/>
            <a:ext cx="7804231" cy="3416320"/>
          </a:xfrm>
          <a:prstGeom prst="rect">
            <a:avLst/>
          </a:prstGeom>
          <a:noFill/>
        </p:spPr>
        <p:txBody>
          <a:bodyPr wrap="square">
            <a:spAutoFit/>
          </a:bodyPr>
          <a:lstStyle/>
          <a:p>
            <a:pPr marL="285750" indent="-285750">
              <a:buFont typeface="Wingdings" panose="05000000000000000000" pitchFamily="2" charset="2"/>
              <a:buChar char="Ø"/>
            </a:pPr>
            <a:r>
              <a:rPr lang="en-US" dirty="0"/>
              <a:t>The most prevalent method for ensuring that motorcyclists wear helmet is traffic police manually monitoring motorcyclists at road junctions or through CCTV footage and penalizing those without helmet. But it requires human intervention and efforts. </a:t>
            </a:r>
          </a:p>
          <a:p>
            <a:endParaRPr lang="en-US" dirty="0"/>
          </a:p>
          <a:p>
            <a:endParaRPr lang="en-US" dirty="0"/>
          </a:p>
          <a:p>
            <a:pPr marL="285750" indent="-285750">
              <a:buFont typeface="Wingdings" panose="05000000000000000000" pitchFamily="2" charset="2"/>
              <a:buChar char="Ø"/>
            </a:pPr>
            <a:r>
              <a:rPr lang="en-US" dirty="0"/>
              <a:t> This paper proposes an automated system for detecting motorcyclists not wearing helmet and retrieving their motorcycle number plates from CCTV footage. The classification of motorcyclist from the given picture and then head portion is located and it is classified as helmet or non-helmet. Finally, for identified motorcyclist without helmet, number plate of motorcycle is detected and the characters on it are extracted. </a:t>
            </a:r>
            <a:endParaRPr lang="en-IN" dirty="0"/>
          </a:p>
        </p:txBody>
      </p:sp>
    </p:spTree>
    <p:extLst>
      <p:ext uri="{BB962C8B-B14F-4D97-AF65-F5344CB8AC3E}">
        <p14:creationId xmlns:p14="http://schemas.microsoft.com/office/powerpoint/2010/main" val="1921590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5ABABB-4B62-4750-A0EC-3CC1545E7F4A}"/>
              </a:ext>
            </a:extLst>
          </p:cNvPr>
          <p:cNvSpPr txBox="1"/>
          <p:nvPr/>
        </p:nvSpPr>
        <p:spPr>
          <a:xfrm>
            <a:off x="405112" y="289366"/>
            <a:ext cx="4710897" cy="461665"/>
          </a:xfrm>
          <a:prstGeom prst="rect">
            <a:avLst/>
          </a:prstGeom>
          <a:noFill/>
        </p:spPr>
        <p:txBody>
          <a:bodyPr wrap="square" rtlCol="0">
            <a:spAutoFit/>
          </a:bodyPr>
          <a:lstStyle/>
          <a:p>
            <a:r>
              <a:rPr lang="en-US" sz="2400" dirty="0"/>
              <a:t>INTRODUCTION:</a:t>
            </a:r>
            <a:endParaRPr lang="en-IN" sz="2400" dirty="0"/>
          </a:p>
        </p:txBody>
      </p:sp>
      <p:sp>
        <p:nvSpPr>
          <p:cNvPr id="5" name="TextBox 4">
            <a:extLst>
              <a:ext uri="{FF2B5EF4-FFF2-40B4-BE49-F238E27FC236}">
                <a16:creationId xmlns:a16="http://schemas.microsoft.com/office/drawing/2014/main" id="{4BC2E315-9C88-E806-9D6E-E37AE2955B1C}"/>
              </a:ext>
            </a:extLst>
          </p:cNvPr>
          <p:cNvSpPr txBox="1"/>
          <p:nvPr/>
        </p:nvSpPr>
        <p:spPr>
          <a:xfrm>
            <a:off x="717630" y="1203766"/>
            <a:ext cx="11296892" cy="3693319"/>
          </a:xfrm>
          <a:prstGeom prst="rect">
            <a:avLst/>
          </a:prstGeom>
          <a:noFill/>
        </p:spPr>
        <p:txBody>
          <a:bodyPr wrap="square" rtlCol="0">
            <a:spAutoFit/>
          </a:bodyPr>
          <a:lstStyle/>
          <a:p>
            <a:pPr marL="285750" indent="-285750">
              <a:buFont typeface="Courier New" panose="02070309020205020404" pitchFamily="49" charset="0"/>
              <a:buChar char="o"/>
            </a:pPr>
            <a:r>
              <a:rPr lang="en-US" dirty="0"/>
              <a:t>The main safety equipment of motorcyclist is the helmet .the helmet protects the motorcyclist against accidents.Although the helmet use is mandatory in many countries, there are motorcyclist that do not use it or use it incorrectly.</a:t>
            </a:r>
          </a:p>
          <a:p>
            <a:endParaRPr lang="en-US" dirty="0"/>
          </a:p>
          <a:p>
            <a:pPr marL="285750" indent="-285750">
              <a:buFont typeface="Courier New" panose="02070309020205020404" pitchFamily="49" charset="0"/>
              <a:buChar char="o"/>
            </a:pPr>
            <a:r>
              <a:rPr lang="en-US" dirty="0"/>
              <a:t>Over the past years many works have been carried out in traffic analysis ,including vehicle detection and classification,and helmet detection.</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Using this helmet detection model helmet-less riders can be easily detected. Based one the detected classes the license plate of the rider is cropped out and saved as an image.</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This image is given to an Optical Character Recognition (OCR) model which recognizes the text and gives the license plate numbers as output in the form of machine encoded text.And it can also be implemented in real time using a webcam.</a:t>
            </a:r>
            <a:endParaRPr lang="en-IN" dirty="0"/>
          </a:p>
        </p:txBody>
      </p:sp>
    </p:spTree>
    <p:extLst>
      <p:ext uri="{BB962C8B-B14F-4D97-AF65-F5344CB8AC3E}">
        <p14:creationId xmlns:p14="http://schemas.microsoft.com/office/powerpoint/2010/main" val="315807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39CE44-0E35-5680-63BA-27521C13618C}"/>
              </a:ext>
            </a:extLst>
          </p:cNvPr>
          <p:cNvSpPr txBox="1"/>
          <p:nvPr/>
        </p:nvSpPr>
        <p:spPr>
          <a:xfrm>
            <a:off x="149292" y="207219"/>
            <a:ext cx="11383347" cy="4154984"/>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OBJECTIVE OF THE PROJECT:</a:t>
            </a:r>
          </a:p>
          <a:p>
            <a:pPr marL="342900" indent="-342900">
              <a:buFont typeface="Arial" panose="020B0604020202020204" pitchFamily="34" charset="0"/>
              <a:buChar char="•"/>
            </a:pPr>
            <a:endParaRPr lang="en-US" sz="2400" dirty="0">
              <a:highlight>
                <a:srgbClr val="FFFF00"/>
              </a:highlight>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Motorcyclist  accidents have been rapidly growing through the years in many </a:t>
            </a:r>
            <a:r>
              <a:rPr lang="en-US" dirty="0" err="1">
                <a:latin typeface="Calibri" panose="020F0502020204030204" pitchFamily="34" charset="0"/>
                <a:ea typeface="Calibri" panose="020F0502020204030204" pitchFamily="34" charset="0"/>
                <a:cs typeface="Calibri" panose="020F0502020204030204" pitchFamily="34" charset="0"/>
              </a:rPr>
              <a:t>countries.In</a:t>
            </a:r>
            <a:r>
              <a:rPr lang="en-US" dirty="0">
                <a:latin typeface="Calibri" panose="020F0502020204030204" pitchFamily="34" charset="0"/>
                <a:ea typeface="Calibri" panose="020F0502020204030204" pitchFamily="34" charset="0"/>
                <a:cs typeface="Calibri" panose="020F0502020204030204" pitchFamily="34" charset="0"/>
              </a:rPr>
              <a:t> India more than 37 million use two wheelers.</a:t>
            </a:r>
          </a:p>
          <a:p>
            <a:pPr marL="342900" indent="-34290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Therefore, it is necessary to </a:t>
            </a:r>
            <a:r>
              <a:rPr lang="en-US" dirty="0" err="1">
                <a:latin typeface="Calibri" panose="020F0502020204030204" pitchFamily="34" charset="0"/>
                <a:ea typeface="Calibri" panose="020F0502020204030204" pitchFamily="34" charset="0"/>
                <a:cs typeface="Calibri" panose="020F0502020204030204" pitchFamily="34" charset="0"/>
              </a:rPr>
              <a:t>devlop</a:t>
            </a:r>
            <a:r>
              <a:rPr lang="en-US" dirty="0">
                <a:latin typeface="Calibri" panose="020F0502020204030204" pitchFamily="34" charset="0"/>
                <a:ea typeface="Calibri" panose="020F0502020204030204" pitchFamily="34" charset="0"/>
                <a:cs typeface="Calibri" panose="020F0502020204030204" pitchFamily="34" charset="0"/>
              </a:rPr>
              <a:t> a system for automatic detection of helmet wearing for road safety.</a:t>
            </a:r>
          </a:p>
          <a:p>
            <a:pPr marL="342900" indent="-34290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Therefore ,a custom object detection  model is created using a machine learning  based algorithm which can detect motorcycle riders.</a:t>
            </a:r>
          </a:p>
          <a:p>
            <a:pPr marL="342900" indent="-34290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On the detection of a helmetless rider ,the  License plate is extracted and the license plate number is recognized using an Optical Character </a:t>
            </a:r>
            <a:r>
              <a:rPr lang="en-US" dirty="0" err="1">
                <a:latin typeface="Calibri" panose="020F0502020204030204" pitchFamily="34" charset="0"/>
                <a:ea typeface="Calibri" panose="020F0502020204030204" pitchFamily="34" charset="0"/>
                <a:cs typeface="Calibri" panose="020F0502020204030204" pitchFamily="34" charset="0"/>
              </a:rPr>
              <a:t>Recognizatior</a:t>
            </a:r>
            <a:r>
              <a:rPr lang="en-US" dirty="0">
                <a:latin typeface="Calibri" panose="020F0502020204030204" pitchFamily="34" charset="0"/>
                <a:ea typeface="Calibri" panose="020F0502020204030204" pitchFamily="34" charset="0"/>
                <a:cs typeface="Calibri" panose="020F0502020204030204" pitchFamily="34" charset="0"/>
              </a:rPr>
              <a:t>.</a:t>
            </a:r>
          </a:p>
          <a:p>
            <a:pPr marL="342900" indent="-34290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This Application can be implemented in real-time  using a  dataset as input.</a:t>
            </a:r>
          </a:p>
        </p:txBody>
      </p:sp>
    </p:spTree>
    <p:extLst>
      <p:ext uri="{BB962C8B-B14F-4D97-AF65-F5344CB8AC3E}">
        <p14:creationId xmlns:p14="http://schemas.microsoft.com/office/powerpoint/2010/main" val="1129760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09EE27-D777-2A97-2FBD-AD454ED38AF4}"/>
              </a:ext>
            </a:extLst>
          </p:cNvPr>
          <p:cNvSpPr txBox="1"/>
          <p:nvPr/>
        </p:nvSpPr>
        <p:spPr>
          <a:xfrm>
            <a:off x="354564" y="391886"/>
            <a:ext cx="9881118" cy="5693866"/>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EXISTING </a:t>
            </a:r>
            <a:r>
              <a:rPr lang="en-IN" sz="2400" dirty="0">
                <a:latin typeface="Calibri" panose="020F0502020204030204" pitchFamily="34" charset="0"/>
                <a:ea typeface="Calibri" panose="020F0502020204030204" pitchFamily="34" charset="0"/>
                <a:cs typeface="Calibri" panose="020F0502020204030204" pitchFamily="34" charset="0"/>
              </a:rPr>
              <a:t>  SYSTEM :</a:t>
            </a:r>
          </a:p>
          <a:p>
            <a:endParaRPr lang="en-IN"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Over the past  years, multiple approaches have  been  proposed to solve the  problem of the helmet detection.</a:t>
            </a:r>
          </a:p>
          <a:p>
            <a:pPr marL="285750" indent="-285750">
              <a:buFont typeface="Wingdings" panose="05000000000000000000" pitchFamily="2" charset="2"/>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And they used Support Vector Machines (SVM) to classify  helmet and human heads without helmets.</a:t>
            </a:r>
          </a:p>
          <a:p>
            <a:pPr marL="285750" indent="-285750">
              <a:buFont typeface="Wingdings" panose="05000000000000000000" pitchFamily="2" charset="2"/>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They  used Hough transform with SVM to detect the head of the motorcyclist.</a:t>
            </a:r>
          </a:p>
          <a:p>
            <a:pPr marL="285750" indent="-285750">
              <a:buFont typeface="Wingdings" panose="05000000000000000000" pitchFamily="2" charset="2"/>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They applied  it to detect helmet on the surveillance system. The drawback of this work is that they only use geometric features to verify if any safety helmet exists in the set.</a:t>
            </a:r>
          </a:p>
          <a:p>
            <a:pPr marL="285750" indent="-285750">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A helmet detection system is used ,and the helmet presence  verifies that there is a  motorcycle. In order to detect the helmet presence ,the edges are computed on the possible helmet region.</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sz="2000" dirty="0">
                <a:latin typeface="Calibri" panose="020F0502020204030204" pitchFamily="34" charset="0"/>
                <a:ea typeface="Calibri" panose="020F0502020204030204" pitchFamily="34" charset="0"/>
                <a:cs typeface="Calibri" panose="020F0502020204030204" pitchFamily="34" charset="0"/>
              </a:rPr>
              <a:t>Disadavantages of existing system :</a:t>
            </a:r>
          </a:p>
          <a:p>
            <a:endParaRPr lang="en-IN" sz="2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Accuracy is less. </a:t>
            </a:r>
          </a:p>
          <a:p>
            <a:r>
              <a:rPr lang="en-US" sz="24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4215944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2F8194-2B93-AD14-04D6-36324FA5B30B}"/>
              </a:ext>
            </a:extLst>
          </p:cNvPr>
          <p:cNvSpPr txBox="1"/>
          <p:nvPr/>
        </p:nvSpPr>
        <p:spPr>
          <a:xfrm>
            <a:off x="569168" y="205273"/>
            <a:ext cx="10739534" cy="5078313"/>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PROPOSED SYSTEM :</a:t>
            </a:r>
          </a:p>
          <a:p>
            <a:pPr marL="342900" indent="-342900">
              <a:buFont typeface="Arial" panose="020B0604020202020204" pitchFamily="34" charset="0"/>
              <a:buChar char="•"/>
            </a:pPr>
            <a:endParaRPr lang="en-IN"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Therefore, by training with a specific dataset, a Helmet detection model can be implemented. Using this helmet detection model helmet-less riders can be easily  detected.</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Based on the detected classes the license plate of the rider is cropped out and saved as an image .This image is given to an Optical  Character Recognition (OCR) model which recognizes the text and gives the License plate number as output in the form of Machine encoded text. And it can also be implemented in real  time  using a Webcam.</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For  real-time  helmet detection , there is a need for  accuracy  and  speed . Hence a DNN based model You Only Look Once (YOLO) was chosen.</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r>
              <a:rPr lang="en-IN" sz="2000" dirty="0">
                <a:latin typeface="Calibri" panose="020F0502020204030204" pitchFamily="34" charset="0"/>
                <a:ea typeface="Calibri" panose="020F0502020204030204" pitchFamily="34" charset="0"/>
                <a:cs typeface="Calibri" panose="020F0502020204030204" pitchFamily="34" charset="0"/>
              </a:rPr>
              <a:t>ADVANTAGE  OF PROPOSED SYSTEM :</a:t>
            </a:r>
          </a:p>
          <a:p>
            <a:pPr marL="342900" indent="-342900">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Accuracy is more.</a:t>
            </a:r>
          </a:p>
        </p:txBody>
      </p:sp>
    </p:spTree>
    <p:extLst>
      <p:ext uri="{BB962C8B-B14F-4D97-AF65-F5344CB8AC3E}">
        <p14:creationId xmlns:p14="http://schemas.microsoft.com/office/powerpoint/2010/main" val="1761864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09615A-CCA1-1FB9-DC8F-1F081F644A79}"/>
              </a:ext>
            </a:extLst>
          </p:cNvPr>
          <p:cNvSpPr txBox="1"/>
          <p:nvPr/>
        </p:nvSpPr>
        <p:spPr>
          <a:xfrm>
            <a:off x="503851" y="391885"/>
            <a:ext cx="4739953" cy="1138773"/>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SYSTEM  SPECIFICATION :</a:t>
            </a:r>
          </a:p>
          <a:p>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IN" sz="2000" u="sng" dirty="0">
                <a:latin typeface="Calibri" panose="020F0502020204030204" pitchFamily="34" charset="0"/>
                <a:ea typeface="Calibri" panose="020F0502020204030204" pitchFamily="34" charset="0"/>
                <a:cs typeface="Calibri" panose="020F0502020204030204" pitchFamily="34" charset="0"/>
              </a:rPr>
              <a:t>HARDWARE REQUIREMENTS:</a:t>
            </a:r>
          </a:p>
        </p:txBody>
      </p:sp>
      <p:sp>
        <p:nvSpPr>
          <p:cNvPr id="3" name="TextBox 2">
            <a:extLst>
              <a:ext uri="{FF2B5EF4-FFF2-40B4-BE49-F238E27FC236}">
                <a16:creationId xmlns:a16="http://schemas.microsoft.com/office/drawing/2014/main" id="{CBD0058A-B1C1-3864-D8E0-3F8210D77964}"/>
              </a:ext>
            </a:extLst>
          </p:cNvPr>
          <p:cNvSpPr txBox="1"/>
          <p:nvPr/>
        </p:nvSpPr>
        <p:spPr>
          <a:xfrm>
            <a:off x="783772" y="1924052"/>
            <a:ext cx="7651102" cy="1754326"/>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Calibri" panose="020F0502020204030204" pitchFamily="34" charset="0"/>
                <a:ea typeface="Calibri" panose="020F0502020204030204" pitchFamily="34" charset="0"/>
                <a:cs typeface="Calibri" panose="020F0502020204030204" pitchFamily="34" charset="0"/>
              </a:rPr>
              <a:t>System                    :  Pentium  IV 2.4 GHZ.</a:t>
            </a:r>
          </a:p>
          <a:p>
            <a:pPr marL="285750" indent="-285750">
              <a:buFont typeface="Wingdings" panose="05000000000000000000" pitchFamily="2" charset="2"/>
              <a:buChar char="v"/>
            </a:pPr>
            <a:r>
              <a:rPr lang="en-US" dirty="0">
                <a:latin typeface="Calibri" panose="020F0502020204030204" pitchFamily="34" charset="0"/>
                <a:ea typeface="Calibri" panose="020F0502020204030204" pitchFamily="34" charset="0"/>
                <a:cs typeface="Calibri" panose="020F0502020204030204" pitchFamily="34" charset="0"/>
              </a:rPr>
              <a:t>Hard Disk                : 40 GB.</a:t>
            </a:r>
          </a:p>
          <a:p>
            <a:pPr marL="285750" indent="-285750">
              <a:buFont typeface="Wingdings" panose="05000000000000000000" pitchFamily="2" charset="2"/>
              <a:buChar char="v"/>
            </a:pPr>
            <a:r>
              <a:rPr lang="en-US" dirty="0">
                <a:latin typeface="Calibri" panose="020F0502020204030204" pitchFamily="34" charset="0"/>
                <a:ea typeface="Calibri" panose="020F0502020204030204" pitchFamily="34" charset="0"/>
                <a:cs typeface="Calibri" panose="020F0502020204030204" pitchFamily="34" charset="0"/>
              </a:rPr>
              <a:t>Floppy Drive           : 1.44 Mb.</a:t>
            </a:r>
          </a:p>
          <a:p>
            <a:pPr marL="285750" indent="-285750">
              <a:buFont typeface="Wingdings" panose="05000000000000000000" pitchFamily="2" charset="2"/>
              <a:buChar char="v"/>
            </a:pPr>
            <a:r>
              <a:rPr lang="en-US" dirty="0">
                <a:latin typeface="Calibri" panose="020F0502020204030204" pitchFamily="34" charset="0"/>
                <a:ea typeface="Calibri" panose="020F0502020204030204" pitchFamily="34" charset="0"/>
                <a:cs typeface="Calibri" panose="020F0502020204030204" pitchFamily="34" charset="0"/>
              </a:rPr>
              <a:t>Monitor                   : 14’ </a:t>
            </a:r>
            <a:r>
              <a:rPr lang="en-US" dirty="0" err="1">
                <a:latin typeface="Calibri" panose="020F0502020204030204" pitchFamily="34" charset="0"/>
                <a:ea typeface="Calibri" panose="020F0502020204030204" pitchFamily="34" charset="0"/>
                <a:cs typeface="Calibri" panose="020F0502020204030204" pitchFamily="34" charset="0"/>
              </a:rPr>
              <a:t>Colour</a:t>
            </a:r>
            <a:r>
              <a:rPr lang="en-US" dirty="0">
                <a:latin typeface="Calibri" panose="020F0502020204030204" pitchFamily="34" charset="0"/>
                <a:ea typeface="Calibri" panose="020F0502020204030204" pitchFamily="34" charset="0"/>
                <a:cs typeface="Calibri" panose="020F0502020204030204" pitchFamily="34" charset="0"/>
              </a:rPr>
              <a:t> Monitor .</a:t>
            </a:r>
          </a:p>
          <a:p>
            <a:pPr marL="285750" indent="-285750">
              <a:buFont typeface="Wingdings" panose="05000000000000000000" pitchFamily="2" charset="2"/>
              <a:buChar char="v"/>
            </a:pPr>
            <a:r>
              <a:rPr lang="en-US" dirty="0">
                <a:latin typeface="Calibri" panose="020F0502020204030204" pitchFamily="34" charset="0"/>
                <a:ea typeface="Calibri" panose="020F0502020204030204" pitchFamily="34" charset="0"/>
                <a:cs typeface="Calibri" panose="020F0502020204030204" pitchFamily="34" charset="0"/>
              </a:rPr>
              <a:t>Mouse                      : Optical Mouse.</a:t>
            </a:r>
          </a:p>
          <a:p>
            <a:pPr marL="285750" indent="-285750">
              <a:buFont typeface="Wingdings" panose="05000000000000000000" pitchFamily="2" charset="2"/>
              <a:buChar char="v"/>
            </a:pPr>
            <a:r>
              <a:rPr lang="en-US" dirty="0">
                <a:latin typeface="Calibri" panose="020F0502020204030204" pitchFamily="34" charset="0"/>
                <a:ea typeface="Calibri" panose="020F0502020204030204" pitchFamily="34" charset="0"/>
                <a:cs typeface="Calibri" panose="020F0502020204030204" pitchFamily="34" charset="0"/>
              </a:rPr>
              <a:t>Ram                          : 512 Mb.</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18680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560C5A-3898-2E84-D10F-F9C072E66B7E}"/>
              </a:ext>
            </a:extLst>
          </p:cNvPr>
          <p:cNvSpPr txBox="1"/>
          <p:nvPr/>
        </p:nvSpPr>
        <p:spPr>
          <a:xfrm flipH="1">
            <a:off x="289248" y="326571"/>
            <a:ext cx="10412961" cy="2031325"/>
          </a:xfrm>
          <a:prstGeom prst="rect">
            <a:avLst/>
          </a:prstGeom>
          <a:noFill/>
        </p:spPr>
        <p:txBody>
          <a:bodyPr wrap="square" rtlCol="0">
            <a:spAutoFit/>
          </a:bodyPr>
          <a:lstStyle/>
          <a:p>
            <a:r>
              <a:rPr lang="en-IN" u="sng" dirty="0"/>
              <a:t>SOFTWARE REQUIREMENTS : </a:t>
            </a:r>
          </a:p>
          <a:p>
            <a:endParaRPr lang="en-IN" dirty="0"/>
          </a:p>
          <a:p>
            <a:pPr marL="285750" indent="-285750">
              <a:buFont typeface="Wingdings" panose="05000000000000000000" pitchFamily="2" charset="2"/>
              <a:buChar char="q"/>
            </a:pPr>
            <a:r>
              <a:rPr lang="en-IN" dirty="0"/>
              <a:t> </a:t>
            </a:r>
            <a:r>
              <a:rPr lang="en-IN" dirty="0">
                <a:latin typeface="Calibri" panose="020F0502020204030204" pitchFamily="34" charset="0"/>
                <a:ea typeface="Calibri" panose="020F0502020204030204" pitchFamily="34" charset="0"/>
                <a:cs typeface="Calibri" panose="020F0502020204030204" pitchFamily="34" charset="0"/>
              </a:rPr>
              <a:t>Operating  system : Windows 7 Ultimate .</a:t>
            </a:r>
            <a:r>
              <a:rPr lang="en-IN" dirty="0"/>
              <a:t> </a:t>
            </a:r>
          </a:p>
          <a:p>
            <a:pPr marL="285750" indent="-285750">
              <a:buFont typeface="Wingdings" panose="05000000000000000000" pitchFamily="2" charset="2"/>
              <a:buChar char="q"/>
            </a:pPr>
            <a:r>
              <a:rPr lang="en-IN" dirty="0"/>
              <a:t>  Coding Language : Python. </a:t>
            </a:r>
          </a:p>
          <a:p>
            <a:pPr marL="285750" indent="-285750">
              <a:buFont typeface="Wingdings" panose="05000000000000000000" pitchFamily="2" charset="2"/>
              <a:buChar char="q"/>
            </a:pPr>
            <a:r>
              <a:rPr lang="en-IN" dirty="0"/>
              <a:t> Front-End           : Python.</a:t>
            </a:r>
          </a:p>
          <a:p>
            <a:pPr marL="285750" indent="-285750">
              <a:buFont typeface="Wingdings" panose="05000000000000000000" pitchFamily="2" charset="2"/>
              <a:buChar char="q"/>
            </a:pPr>
            <a:r>
              <a:rPr lang="en-IN" dirty="0"/>
              <a:t>  Designing           : Html, </a:t>
            </a:r>
            <a:r>
              <a:rPr lang="en-IN" dirty="0" err="1"/>
              <a:t>css,javascript</a:t>
            </a:r>
            <a:r>
              <a:rPr lang="en-IN" dirty="0"/>
              <a:t>.</a:t>
            </a:r>
          </a:p>
          <a:p>
            <a:pPr marL="285750" indent="-285750">
              <a:buFont typeface="Wingdings" panose="05000000000000000000" pitchFamily="2" charset="2"/>
              <a:buChar char="q"/>
            </a:pPr>
            <a:r>
              <a:rPr lang="en-IN" dirty="0">
                <a:latin typeface="Calibri" panose="020F0502020204030204" pitchFamily="34" charset="0"/>
                <a:ea typeface="Calibri" panose="020F0502020204030204" pitchFamily="34" charset="0"/>
                <a:cs typeface="Calibri" panose="020F0502020204030204" pitchFamily="34" charset="0"/>
              </a:rPr>
              <a:t>Data Base              : MySQL.</a:t>
            </a:r>
          </a:p>
        </p:txBody>
      </p:sp>
    </p:spTree>
    <p:extLst>
      <p:ext uri="{BB962C8B-B14F-4D97-AF65-F5344CB8AC3E}">
        <p14:creationId xmlns:p14="http://schemas.microsoft.com/office/powerpoint/2010/main" val="3865971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55A0D2-92FE-9ACC-4AAF-99D75061D083}"/>
              </a:ext>
            </a:extLst>
          </p:cNvPr>
          <p:cNvPicPr>
            <a:picLocks noChangeAspect="1"/>
          </p:cNvPicPr>
          <p:nvPr/>
        </p:nvPicPr>
        <p:blipFill>
          <a:blip r:embed="rId2">
            <a:extLst>
              <a:ext uri="{28A0092B-C50C-407E-A947-70E740481C1C}">
                <a14:useLocalDpi xmlns:a14="http://schemas.microsoft.com/office/drawing/2010/main" val="0"/>
              </a:ext>
            </a:extLst>
          </a:blip>
          <a:srcRect r="2122" b="4887"/>
          <a:stretch>
            <a:fillRect/>
          </a:stretch>
        </p:blipFill>
        <p:spPr>
          <a:xfrm>
            <a:off x="1032244" y="289250"/>
            <a:ext cx="9912564" cy="5085184"/>
          </a:xfrm>
          <a:prstGeom prst="rect">
            <a:avLst/>
          </a:prstGeom>
        </p:spPr>
      </p:pic>
    </p:spTree>
    <p:extLst>
      <p:ext uri="{BB962C8B-B14F-4D97-AF65-F5344CB8AC3E}">
        <p14:creationId xmlns:p14="http://schemas.microsoft.com/office/powerpoint/2010/main" val="293852344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365</TotalTime>
  <Words>755</Words>
  <Application>Microsoft Office PowerPoint</Application>
  <PresentationFormat>Widescreen</PresentationFormat>
  <Paragraphs>81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Courier New</vt:lpstr>
      <vt:lpstr>Gill Sans MT</vt:lpstr>
      <vt:lpstr>Wingdings</vt:lpstr>
      <vt:lpstr>Gallery</vt:lpstr>
      <vt:lpstr>NUMBER PLATE DETECTION WITHOUT HELMET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Title:NUMBER PLATE DETECTION WITHOUT HELMET </dc:title>
  <dc:creator>ANJALI BADAVATH</dc:creator>
  <cp:lastModifiedBy>ANJALI BADAVATH</cp:lastModifiedBy>
  <cp:revision>1</cp:revision>
  <dcterms:created xsi:type="dcterms:W3CDTF">2023-10-31T10:52:18Z</dcterms:created>
  <dcterms:modified xsi:type="dcterms:W3CDTF">2026-07-18T12:07:16Z</dcterms:modified>
</cp:coreProperties>
</file>